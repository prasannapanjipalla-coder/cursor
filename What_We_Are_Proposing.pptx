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46304"/>
            <a:ext cx="11494007" cy="3657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00000"/>
                </a:solidFill>
                <a:latin typeface="Georgia"/>
                <a:ea typeface="Georgia"/>
                <a:cs typeface="Georgia"/>
              </a:rPr>
              <a:t>What We Are Proposing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512064"/>
            <a:ext cx="11494007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Start MVP definition and build, enabling early value and setting the foundation for continued capability and roadmap development.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" y="841248"/>
            <a:ext cx="3733799" cy="20299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2E2E2"/>
            </a:solidFill>
          </a:ln>
          <a:effectLst>
            <a:outerShdw blurRad="54864" dist="18288" dir="2700000" algn="t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75488" y="969264"/>
            <a:ext cx="256032" cy="25603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9692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pic>
        <p:nvPicPr>
          <p:cNvPr id="8" name="Picture 7" descr="clip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071" y="969264"/>
            <a:ext cx="310896" cy="310896"/>
          </a:xfrm>
          <a:prstGeom prst="rect">
            <a:avLst/>
          </a:prstGeom>
          <a:ln>
            <a:noFill/>
          </a:ln>
        </p:spPr>
      </p:pic>
      <p:sp>
        <p:nvSpPr>
          <p:cNvPr id="9" name="TextBox 8"/>
          <p:cNvSpPr txBox="1"/>
          <p:nvPr/>
        </p:nvSpPr>
        <p:spPr>
          <a:xfrm>
            <a:off x="804672" y="950976"/>
            <a:ext cx="2746247" cy="43891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Temporarily Pause Business Requirements (BRs)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444752"/>
            <a:ext cx="3477767" cy="124358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Complete labeling requirements while </a:t>
            </a:r>
            <a:r>
              <a:rPr sz="1200" b="1" i="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pausing</a:t>
            </a:r>
            <a:r>
              <a:rPr sz="1200" b="0" i="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 detailed requirements for other </a:t>
            </a:r>
            <a:r>
              <a:rPr sz="1200" b="1" i="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planning capabilities.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7576" y="841248"/>
            <a:ext cx="3733799" cy="20299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2E2E2"/>
            </a:solidFill>
          </a:ln>
          <a:effectLst>
            <a:outerShdw blurRad="54864" dist="18288" dir="2700000" algn="t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55591" y="969264"/>
            <a:ext cx="256032" cy="25603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5591" y="9692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pic>
        <p:nvPicPr>
          <p:cNvPr id="14" name="Picture 13" descr="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4176" y="969264"/>
            <a:ext cx="310896" cy="310896"/>
          </a:xfrm>
          <a:prstGeom prst="rect">
            <a:avLst/>
          </a:prstGeom>
          <a:ln>
            <a:noFill/>
          </a:ln>
        </p:spPr>
      </p:pic>
      <p:sp>
        <p:nvSpPr>
          <p:cNvPr id="15" name="TextBox 14"/>
          <p:cNvSpPr txBox="1"/>
          <p:nvPr/>
        </p:nvSpPr>
        <p:spPr>
          <a:xfrm>
            <a:off x="4684776" y="950976"/>
            <a:ext cx="2746247" cy="43891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Define MVP Scope and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5591" y="1444752"/>
            <a:ext cx="3477767" cy="7132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Prioritize high-value capabilities, develop functional and UX requirements, and define MVP scope.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7304" y="2231136"/>
            <a:ext cx="3514343" cy="54864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0456" y="2377440"/>
            <a:ext cx="274320" cy="274320"/>
          </a:xfrm>
          <a:prstGeom prst="rect">
            <a:avLst/>
          </a:prstGeom>
          <a:ln>
            <a:noFill/>
          </a:ln>
        </p:spPr>
      </p:pic>
      <p:sp>
        <p:nvSpPr>
          <p:cNvPr id="19" name="TextBox 18"/>
          <p:cNvSpPr txBox="1"/>
          <p:nvPr/>
        </p:nvSpPr>
        <p:spPr>
          <a:xfrm>
            <a:off x="4721352" y="2276856"/>
            <a:ext cx="3075432" cy="182880"/>
          </a:xfrm>
          <a:prstGeom prst="rect">
            <a:avLst/>
          </a:prstGeom>
          <a:noFill/>
        </p:spPr>
        <p:txBody>
          <a:bodyPr wrap="square" lIns="18288" rIns="36576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04A02"/>
                </a:solidFill>
                <a:latin typeface="Calibri"/>
                <a:ea typeface="Calibri"/>
                <a:cs typeface="Calibri"/>
              </a:rPr>
              <a:t>DECISION POINT  (~4 WEEKS*)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1352" y="2450592"/>
            <a:ext cx="3075432" cy="329184"/>
          </a:xfrm>
          <a:prstGeom prst="rect">
            <a:avLst/>
          </a:prstGeom>
          <a:noFill/>
        </p:spPr>
        <p:txBody>
          <a:bodyPr wrap="square" lIns="18288" rIns="36576" tIns="0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Confirm MVP scope and timeline. Proceed with planned scope or adjust features to meet target timeline.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7680" y="841248"/>
            <a:ext cx="3733799" cy="20299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2E2E2"/>
            </a:solidFill>
          </a:ln>
          <a:effectLst>
            <a:outerShdw blurRad="54864" dist="18288" dir="2700000" algn="tl" rotWithShape="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35696" y="969264"/>
            <a:ext cx="256032" cy="25603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5696" y="9692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pic>
        <p:nvPicPr>
          <p:cNvPr id="24" name="Picture 23" descr="arrow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84280" y="969264"/>
            <a:ext cx="310896" cy="310896"/>
          </a:xfrm>
          <a:prstGeom prst="rect">
            <a:avLst/>
          </a:prstGeom>
          <a:ln>
            <a:noFill/>
          </a:ln>
        </p:spPr>
      </p:pic>
      <p:sp>
        <p:nvSpPr>
          <p:cNvPr id="25" name="TextBox 24"/>
          <p:cNvSpPr txBox="1"/>
          <p:nvPr/>
        </p:nvSpPr>
        <p:spPr>
          <a:xfrm>
            <a:off x="8564880" y="950976"/>
            <a:ext cx="2746247" cy="438912"/>
          </a:xfrm>
          <a:prstGeom prst="rect">
            <a:avLst/>
          </a:prstGeom>
          <a:noFill/>
        </p:spPr>
        <p:txBody>
          <a:bodyPr wrap="square" lIns="18288" rIns="18288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Complete Remaining BRs and Deliver MVP 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5696" y="1444752"/>
            <a:ext cx="3477767" cy="841247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Complete requirements for remaining planning capabilities and prioritize future releases.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35696" y="2267712"/>
            <a:ext cx="256032" cy="32004"/>
          </a:xfrm>
          <a:prstGeom prst="rect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5696" y="2340864"/>
            <a:ext cx="3477767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04A02"/>
                </a:solidFill>
                <a:latin typeface="Calibri"/>
                <a:ea typeface="Calibri"/>
                <a:cs typeface="Calibri"/>
              </a:rPr>
              <a:t>~6 WEEKS*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5696" y="2523744"/>
            <a:ext cx="3477767" cy="27432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F6F6F"/>
                </a:solidFill>
                <a:latin typeface="Calibri"/>
                <a:ea typeface="Calibri"/>
                <a:cs typeface="Calibri"/>
              </a:rPr>
              <a:t>Starts as soon as MVP definition is complete and runs in parallel with MVP build.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" y="2980944"/>
            <a:ext cx="11494007" cy="2395728"/>
          </a:xfrm>
          <a:prstGeom prst="roundRect">
            <a:avLst>
              <a:gd name="adj" fmla="val 4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3035808"/>
            <a:ext cx="11494007" cy="20116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HIGH-LEVEL ROADMAP</a:t>
            </a:r>
          </a:p>
        </p:txBody>
      </p:sp>
      <p:pic>
        <p:nvPicPr>
          <p:cNvPr id="32" name="Picture 31" descr="clip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401568"/>
            <a:ext cx="274320" cy="274320"/>
          </a:xfrm>
          <a:prstGeom prst="rect">
            <a:avLst/>
          </a:prstGeom>
          <a:ln>
            <a:noFill/>
          </a:ln>
        </p:spPr>
      </p:pic>
      <p:sp>
        <p:nvSpPr>
          <p:cNvPr id="33" name="TextBox 32"/>
          <p:cNvSpPr txBox="1"/>
          <p:nvPr/>
        </p:nvSpPr>
        <p:spPr>
          <a:xfrm>
            <a:off x="822960" y="3346703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BUSINESS REQUIREMENTS &amp;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SCALE-UP PLAN</a:t>
            </a:r>
          </a:p>
        </p:txBody>
      </p:sp>
      <p:sp>
        <p:nvSpPr>
          <p:cNvPr id="34" name="Oval 33"/>
          <p:cNvSpPr/>
          <p:nvPr/>
        </p:nvSpPr>
        <p:spPr>
          <a:xfrm>
            <a:off x="2560320" y="3538727"/>
            <a:ext cx="128016" cy="128016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688336" y="3588105"/>
            <a:ext cx="237743" cy="29260"/>
          </a:xfrm>
          <a:prstGeom prst="roundRect">
            <a:avLst>
              <a:gd name="adj" fmla="val 50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926079" y="3346703"/>
            <a:ext cx="2788920" cy="512064"/>
          </a:xfrm>
          <a:prstGeom prst="roundRect">
            <a:avLst>
              <a:gd name="adj" fmla="val 12000"/>
            </a:avLst>
          </a:prstGeom>
          <a:solidFill>
            <a:srgbClr val="FBE6D8"/>
          </a:solidFill>
          <a:ln w="12700">
            <a:solidFill>
              <a:srgbClr val="D04A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99232" y="3364991"/>
            <a:ext cx="2642615" cy="475488"/>
          </a:xfrm>
          <a:prstGeom prst="rect">
            <a:avLst/>
          </a:prstGeom>
          <a:noFill/>
        </p:spPr>
        <p:txBody>
          <a:bodyPr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Temporarily pause detailed BRs for other planning capabilities (focus on labeling)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51576" y="3588105"/>
            <a:ext cx="64008" cy="29260"/>
          </a:xfrm>
          <a:prstGeom prst="roundRect">
            <a:avLst>
              <a:gd name="adj" fmla="val 50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861304" y="3588105"/>
            <a:ext cx="64008" cy="29260"/>
          </a:xfrm>
          <a:prstGeom prst="roundRect">
            <a:avLst>
              <a:gd name="adj" fmla="val 50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971032" y="3588105"/>
            <a:ext cx="64008" cy="29260"/>
          </a:xfrm>
          <a:prstGeom prst="roundRect">
            <a:avLst>
              <a:gd name="adj" fmla="val 50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080760" y="3588105"/>
            <a:ext cx="64008" cy="29260"/>
          </a:xfrm>
          <a:prstGeom prst="roundRect">
            <a:avLst>
              <a:gd name="adj" fmla="val 50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0488" y="3588105"/>
            <a:ext cx="64008" cy="29260"/>
          </a:xfrm>
          <a:prstGeom prst="roundRect">
            <a:avLst>
              <a:gd name="adj" fmla="val 50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18504" y="3588105"/>
            <a:ext cx="2148839" cy="29260"/>
          </a:xfrm>
          <a:prstGeom prst="roundRect">
            <a:avLst>
              <a:gd name="adj" fmla="val 50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ight Arrow 43"/>
          <p:cNvSpPr/>
          <p:nvPr/>
        </p:nvSpPr>
        <p:spPr>
          <a:xfrm>
            <a:off x="8449056" y="3547871"/>
            <a:ext cx="137160" cy="10972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13648" y="3346703"/>
            <a:ext cx="3063239" cy="512064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Complete remaining BRs and prioritize future releases</a:t>
            </a:r>
          </a:p>
        </p:txBody>
      </p:sp>
      <p:pic>
        <p:nvPicPr>
          <p:cNvPr id="46" name="Picture 45" descr="hex_gr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4096511"/>
            <a:ext cx="274320" cy="274320"/>
          </a:xfrm>
          <a:prstGeom prst="rect">
            <a:avLst/>
          </a:prstGeom>
          <a:ln>
            <a:noFill/>
          </a:ln>
        </p:spPr>
      </p:pic>
      <p:sp>
        <p:nvSpPr>
          <p:cNvPr id="47" name="TextBox 46"/>
          <p:cNvSpPr txBox="1"/>
          <p:nvPr/>
        </p:nvSpPr>
        <p:spPr>
          <a:xfrm>
            <a:off x="822960" y="4059935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MVP DEFINITION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&amp; DECISION</a:t>
            </a:r>
          </a:p>
        </p:txBody>
      </p:sp>
      <p:sp>
        <p:nvSpPr>
          <p:cNvPr id="48" name="Oval 47"/>
          <p:cNvSpPr/>
          <p:nvPr/>
        </p:nvSpPr>
        <p:spPr>
          <a:xfrm>
            <a:off x="2569463" y="4224528"/>
            <a:ext cx="109728" cy="109728"/>
          </a:xfrm>
          <a:prstGeom prst="ellipse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679191" y="4267504"/>
            <a:ext cx="246888" cy="23774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926079" y="4041648"/>
            <a:ext cx="278892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059935"/>
            <a:ext cx="2642615" cy="438912"/>
          </a:xfrm>
          <a:prstGeom prst="rect">
            <a:avLst/>
          </a:prstGeom>
          <a:noFill/>
        </p:spPr>
        <p:txBody>
          <a:bodyPr wrap="square" lIns="36576" rIns="36576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Define MVP scope and decision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751576" y="4267504"/>
            <a:ext cx="146304" cy="23774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1304" y="4078224"/>
            <a:ext cx="347472" cy="347472"/>
          </a:xfrm>
          <a:prstGeom prst="rect">
            <a:avLst/>
          </a:prstGeom>
          <a:ln>
            <a:noFill/>
          </a:ln>
        </p:spPr>
      </p:pic>
      <p:sp>
        <p:nvSpPr>
          <p:cNvPr id="54" name="TextBox 53"/>
          <p:cNvSpPr txBox="1"/>
          <p:nvPr/>
        </p:nvSpPr>
        <p:spPr>
          <a:xfrm>
            <a:off x="5696712" y="4425696"/>
            <a:ext cx="694944" cy="1645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04A02"/>
                </a:solidFill>
                <a:latin typeface="Calibri"/>
                <a:ea typeface="Calibri"/>
                <a:cs typeface="Calibri"/>
              </a:rPr>
              <a:t>(~4 WEEKS*)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26810" y="4425696"/>
            <a:ext cx="16459" cy="54864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026810" y="4521708"/>
            <a:ext cx="16459" cy="54864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026810" y="4617720"/>
            <a:ext cx="16459" cy="54864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026810" y="4713732"/>
            <a:ext cx="16459" cy="54864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026810" y="4809744"/>
            <a:ext cx="16459" cy="54864"/>
          </a:xfrm>
          <a:prstGeom prst="roundRect">
            <a:avLst>
              <a:gd name="adj" fmla="val 50000"/>
            </a:avLst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cub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" y="4809744"/>
            <a:ext cx="274320" cy="274320"/>
          </a:xfrm>
          <a:prstGeom prst="rect">
            <a:avLst/>
          </a:prstGeom>
          <a:ln>
            <a:noFill/>
          </a:ln>
        </p:spPr>
      </p:pic>
      <p:sp>
        <p:nvSpPr>
          <p:cNvPr id="61" name="TextBox 60"/>
          <p:cNvSpPr txBox="1"/>
          <p:nvPr/>
        </p:nvSpPr>
        <p:spPr>
          <a:xfrm>
            <a:off x="822960" y="4828032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MVP BUILD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0216" y="4681728"/>
            <a:ext cx="5120640" cy="18288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D04A02"/>
                </a:solidFill>
                <a:latin typeface="Calibri"/>
                <a:ea typeface="Calibri"/>
                <a:cs typeface="Calibri"/>
              </a:rPr>
              <a:t>~6 WEEKS*   Starts as soon as MVP definition is complete and runs in parallel with MVP build.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879592" y="4901184"/>
            <a:ext cx="4315968" cy="310896"/>
          </a:xfrm>
          <a:prstGeom prst="roundRect">
            <a:avLst>
              <a:gd name="adj" fmla="val 45000"/>
            </a:avLst>
          </a:prstGeom>
          <a:solidFill>
            <a:srgbClr val="F2C2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79592" y="4901184"/>
            <a:ext cx="4315968" cy="310896"/>
          </a:xfrm>
          <a:prstGeom prst="rect">
            <a:avLst/>
          </a:prstGeom>
          <a:noFill/>
        </p:spPr>
        <p:txBody>
          <a:bodyPr wrap="square" lIns="73152" rIns="73152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MVP Build   (duration longer than BRs)</a:t>
            </a:r>
          </a:p>
        </p:txBody>
      </p:sp>
      <p:pic>
        <p:nvPicPr>
          <p:cNvPr id="65" name="Picture 64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5288" y="4882896"/>
            <a:ext cx="329184" cy="329184"/>
          </a:xfrm>
          <a:prstGeom prst="rect">
            <a:avLst/>
          </a:prstGeom>
          <a:ln>
            <a:noFill/>
          </a:ln>
        </p:spPr>
      </p:pic>
      <p:sp>
        <p:nvSpPr>
          <p:cNvPr id="66" name="TextBox 65"/>
          <p:cNvSpPr txBox="1"/>
          <p:nvPr/>
        </p:nvSpPr>
        <p:spPr>
          <a:xfrm>
            <a:off x="10671048" y="4828032"/>
            <a:ext cx="1024127" cy="420624"/>
          </a:xfrm>
          <a:prstGeom prst="rect">
            <a:avLst/>
          </a:prstGeom>
          <a:noFill/>
        </p:spPr>
        <p:txBody>
          <a:bodyPr wrap="square" lIns="18288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04A02"/>
                </a:solidFill>
                <a:latin typeface="Calibri"/>
                <a:ea typeface="Calibri"/>
                <a:cs typeface="Calibri"/>
              </a:rPr>
              <a:t>MVP BUILD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04A02"/>
                </a:solidFill>
                <a:latin typeface="Calibri"/>
                <a:ea typeface="Calibri"/>
                <a:cs typeface="Calibri"/>
              </a:rPr>
              <a:t>DELIVERED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47472" y="5486400"/>
            <a:ext cx="11494007" cy="658368"/>
          </a:xfrm>
          <a:prstGeom prst="roundRect">
            <a:avLst>
              <a:gd name="adj" fmla="val 1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hex_oran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2064" y="5632704"/>
            <a:ext cx="365760" cy="365760"/>
          </a:xfrm>
          <a:prstGeom prst="rect">
            <a:avLst/>
          </a:prstGeom>
          <a:ln>
            <a:noFill/>
          </a:ln>
        </p:spPr>
      </p:pic>
      <p:sp>
        <p:nvSpPr>
          <p:cNvPr id="69" name="TextBox 68"/>
          <p:cNvSpPr txBox="1"/>
          <p:nvPr/>
        </p:nvSpPr>
        <p:spPr>
          <a:xfrm>
            <a:off x="969264" y="5559552"/>
            <a:ext cx="10707624" cy="512064"/>
          </a:xfrm>
          <a:prstGeom prst="rect">
            <a:avLst/>
          </a:prstGeom>
          <a:noFill/>
        </p:spPr>
        <p:txBody>
          <a:bodyPr wrap="square" lIns="36576" rIns="73152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Calibri"/>
                <a:ea typeface="Calibri"/>
                <a:cs typeface="Calibri"/>
              </a:rPr>
              <a:t>Outcome: </a:t>
            </a:r>
            <a:r>
              <a:rPr sz="1400" b="0" i="0">
                <a:solidFill>
                  <a:srgbClr val="4A4A4A"/>
                </a:solidFill>
                <a:latin typeface="Calibri"/>
                <a:ea typeface="Calibri"/>
                <a:cs typeface="Calibri"/>
              </a:rPr>
              <a:t>Deliver early value with a focused MVP while building the foundation for continued capability and roadmap development.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7472" y="6272784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00000"/>
                </a:solidFill>
                <a:latin typeface="Georgia"/>
                <a:ea typeface="Georgia"/>
                <a:cs typeface="Georgia"/>
              </a:rPr>
              <a:t>PwC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26080" y="6272784"/>
            <a:ext cx="621792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F6F6F"/>
                </a:solidFill>
                <a:latin typeface="Calibri"/>
                <a:ea typeface="Calibri"/>
                <a:cs typeface="Calibri"/>
              </a:rPr>
              <a:t>* Durations are estimates and will be refined.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75719" y="6272784"/>
            <a:ext cx="365760" cy="29260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F6F6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We Are Proposing</dc:title>
  <dc:subject>MVP definition and build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