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09728"/>
            <a:ext cx="1161288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What We Are Proposing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475488"/>
            <a:ext cx="1161288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Start MVP definition and build, enabling early value and setting the foundation for continued capability and roadmap development.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804672"/>
            <a:ext cx="3783583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>
            <a:outerShdw blurRad="73152" dist="27432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89731" y="1009497"/>
            <a:ext cx="277977" cy="299923"/>
          </a:xfrm>
          <a:prstGeom prst="roundRect">
            <a:avLst>
              <a:gd name="adj" fmla="val 12000"/>
            </a:avLst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62883" y="958291"/>
            <a:ext cx="131673" cy="80467"/>
          </a:xfrm>
          <a:prstGeom prst="roundRect">
            <a:avLst>
              <a:gd name="adj" fmla="val 30000"/>
            </a:avLst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84828" y="972921"/>
            <a:ext cx="87782" cy="43891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40937" y="1089964"/>
            <a:ext cx="36576" cy="3657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99459" y="1097280"/>
            <a:ext cx="124358" cy="2194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40937" y="1148486"/>
            <a:ext cx="36576" cy="3657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99459" y="1155801"/>
            <a:ext cx="124358" cy="2194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40937" y="1207008"/>
            <a:ext cx="36576" cy="3657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99459" y="1214323"/>
            <a:ext cx="124358" cy="2194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950976"/>
            <a:ext cx="3070351" cy="4754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Temporarily Pause Business Requirements (BRs)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" y="1444752"/>
            <a:ext cx="3564127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Complete labeling requirements while </a:t>
            </a:r>
            <a:r>
              <a:rPr sz="1100" b="1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pausing</a:t>
            </a:r>
            <a:r>
              <a:rPr sz="11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 detailed requirements for other </a:t>
            </a:r>
            <a:r>
              <a:rPr sz="1100" b="1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planning capabilities.</a:t>
            </a:r>
          </a:p>
        </p:txBody>
      </p:sp>
      <p:sp>
        <p:nvSpPr>
          <p:cNvPr id="17" name="Oval 16"/>
          <p:cNvSpPr/>
          <p:nvPr/>
        </p:nvSpPr>
        <p:spPr>
          <a:xfrm>
            <a:off x="221284" y="715060"/>
            <a:ext cx="307238" cy="30723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7744" y="731520"/>
            <a:ext cx="274320" cy="274320"/>
          </a:xfrm>
          <a:prstGeom prst="ellipse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" y="736092"/>
            <a:ext cx="274320" cy="26517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4207" y="804672"/>
            <a:ext cx="3783583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>
            <a:outerShdw blurRad="73152" dist="27432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57439" y="950976"/>
            <a:ext cx="365760" cy="365760"/>
          </a:xfrm>
          <a:prstGeom prst="ellipse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37906" y="1031443"/>
            <a:ext cx="204825" cy="20482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89113" y="1082649"/>
            <a:ext cx="102412" cy="102412"/>
          </a:xfrm>
          <a:prstGeom prst="ellipse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0511" y="950976"/>
            <a:ext cx="3070351" cy="4754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Define MVP Scope and 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3935" y="1444752"/>
            <a:ext cx="3564127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Prioritize high-value capabilities, develop functional and UX requirements, and define MVP scope.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13935" y="2103120"/>
            <a:ext cx="3564127" cy="603504"/>
          </a:xfrm>
          <a:prstGeom prst="roundRect">
            <a:avLst>
              <a:gd name="adj" fmla="val 8000"/>
            </a:avLst>
          </a:prstGeom>
          <a:solidFill>
            <a:srgbClr val="FD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87087" y="2282342"/>
            <a:ext cx="274320" cy="24140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4A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87087" y="2282342"/>
            <a:ext cx="274320" cy="76809"/>
          </a:xfrm>
          <a:prstGeom prst="roundRect">
            <a:avLst>
              <a:gd name="adj" fmla="val 12000"/>
            </a:avLst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7087" y="2326233"/>
            <a:ext cx="274320" cy="32918"/>
          </a:xfrm>
          <a:prstGeom prst="rect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47438" y="2249424"/>
            <a:ext cx="27432" cy="60350"/>
          </a:xfrm>
          <a:prstGeom prst="roundRect">
            <a:avLst>
              <a:gd name="adj" fmla="val 40000"/>
            </a:avLst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3625" y="2249424"/>
            <a:ext cx="27432" cy="60350"/>
          </a:xfrm>
          <a:prstGeom prst="roundRect">
            <a:avLst>
              <a:gd name="adj" fmla="val 40000"/>
            </a:avLst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436465" y="2392070"/>
            <a:ext cx="49377" cy="43891"/>
          </a:xfrm>
          <a:prstGeom prst="roundRect">
            <a:avLst>
              <a:gd name="adj" fmla="val 30000"/>
            </a:avLst>
          </a:prstGeom>
          <a:solidFill>
            <a:srgbClr val="FB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02302" y="2392070"/>
            <a:ext cx="49377" cy="43891"/>
          </a:xfrm>
          <a:prstGeom prst="roundRect">
            <a:avLst>
              <a:gd name="adj" fmla="val 30000"/>
            </a:avLst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68139" y="2392070"/>
            <a:ext cx="49377" cy="43891"/>
          </a:xfrm>
          <a:prstGeom prst="roundRect">
            <a:avLst>
              <a:gd name="adj" fmla="val 30000"/>
            </a:avLst>
          </a:prstGeom>
          <a:solidFill>
            <a:srgbClr val="FB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436465" y="2452420"/>
            <a:ext cx="49377" cy="43891"/>
          </a:xfrm>
          <a:prstGeom prst="roundRect">
            <a:avLst>
              <a:gd name="adj" fmla="val 30000"/>
            </a:avLst>
          </a:prstGeom>
          <a:solidFill>
            <a:srgbClr val="FB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502302" y="2452420"/>
            <a:ext cx="49377" cy="43891"/>
          </a:xfrm>
          <a:prstGeom prst="roundRect">
            <a:avLst>
              <a:gd name="adj" fmla="val 30000"/>
            </a:avLst>
          </a:prstGeom>
          <a:solidFill>
            <a:srgbClr val="FB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6271" y="2139696"/>
            <a:ext cx="3088639" cy="201168"/>
          </a:xfrm>
          <a:prstGeom prst="rect">
            <a:avLst/>
          </a:prstGeom>
          <a:noFill/>
        </p:spPr>
        <p:txBody>
          <a:bodyPr wrap="square" lIns="18288" rIns="36576" tIns="18288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04A02"/>
                </a:solidFill>
                <a:latin typeface="Calibri"/>
                <a:ea typeface="Calibri"/>
                <a:cs typeface="Calibri"/>
              </a:rPr>
              <a:t>DECISION POINT  (~4 WEEKS*)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16271" y="2322576"/>
            <a:ext cx="3088639" cy="365760"/>
          </a:xfrm>
          <a:prstGeom prst="rect">
            <a:avLst/>
          </a:prstGeom>
          <a:noFill/>
        </p:spPr>
        <p:txBody>
          <a:bodyPr wrap="square" lIns="18288" rIns="36576" tIns="0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Confirm MVP scope and timeline. Proceed with planned scope or adjust features to meet target timeline.</a:t>
            </a:r>
          </a:p>
        </p:txBody>
      </p:sp>
      <p:sp>
        <p:nvSpPr>
          <p:cNvPr id="39" name="Oval 38"/>
          <p:cNvSpPr/>
          <p:nvPr/>
        </p:nvSpPr>
        <p:spPr>
          <a:xfrm>
            <a:off x="4132884" y="715060"/>
            <a:ext cx="307238" cy="30723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149343" y="731520"/>
            <a:ext cx="274320" cy="274320"/>
          </a:xfrm>
          <a:prstGeom prst="ellipse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49343" y="736092"/>
            <a:ext cx="274320" cy="26517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15807" y="804672"/>
            <a:ext cx="3783583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>
            <a:outerShdw blurRad="73152" dist="27432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ight Arrow 42"/>
          <p:cNvSpPr/>
          <p:nvPr/>
        </p:nvSpPr>
        <p:spPr>
          <a:xfrm>
            <a:off x="11332463" y="987552"/>
            <a:ext cx="414771" cy="99852"/>
          </a:xfrm>
          <a:prstGeom prst="rightArrow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ight Arrow 43"/>
          <p:cNvSpPr/>
          <p:nvPr/>
        </p:nvSpPr>
        <p:spPr>
          <a:xfrm>
            <a:off x="11332463" y="1118128"/>
            <a:ext cx="414771" cy="99852"/>
          </a:xfrm>
          <a:prstGeom prst="rightArrow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ight Arrow 44"/>
          <p:cNvSpPr/>
          <p:nvPr/>
        </p:nvSpPr>
        <p:spPr>
          <a:xfrm>
            <a:off x="11332463" y="1248704"/>
            <a:ext cx="414771" cy="99852"/>
          </a:xfrm>
          <a:prstGeom prst="rightArrow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62111" y="950976"/>
            <a:ext cx="3070351" cy="4754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Complete Remaining BRs and Deliver MVP Build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5535" y="1444752"/>
            <a:ext cx="3564127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Complete requirements for remaining planning capabilities and prioritize future releases.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62111" y="2249424"/>
            <a:ext cx="3490975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04A02"/>
                </a:solidFill>
                <a:latin typeface="Calibri"/>
                <a:ea typeface="Calibri"/>
                <a:cs typeface="Calibri"/>
              </a:rPr>
              <a:t>~6 WEEKS*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62111" y="2432304"/>
            <a:ext cx="3490975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Starts as soon as MVP definition is complete and runs in parallel with MVP build.</a:t>
            </a:r>
          </a:p>
        </p:txBody>
      </p:sp>
      <p:sp>
        <p:nvSpPr>
          <p:cNvPr id="50" name="Oval 49"/>
          <p:cNvSpPr/>
          <p:nvPr/>
        </p:nvSpPr>
        <p:spPr>
          <a:xfrm>
            <a:off x="8044484" y="715060"/>
            <a:ext cx="307238" cy="30723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060943" y="731520"/>
            <a:ext cx="274320" cy="274320"/>
          </a:xfrm>
          <a:prstGeom prst="ellipse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60943" y="736092"/>
            <a:ext cx="274320" cy="26517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2608" y="2907792"/>
            <a:ext cx="11606783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HIGH-LEVEL ROADMAP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27720" y="3302081"/>
            <a:ext cx="222382" cy="239938"/>
          </a:xfrm>
          <a:prstGeom prst="roundRect">
            <a:avLst>
              <a:gd name="adj" fmla="val 12000"/>
            </a:avLst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86242" y="3261116"/>
            <a:ext cx="105338" cy="64373"/>
          </a:xfrm>
          <a:prstGeom prst="roundRect">
            <a:avLst>
              <a:gd name="adj" fmla="val 30000"/>
            </a:avLst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03799" y="3272820"/>
            <a:ext cx="70225" cy="351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68686" y="3366455"/>
            <a:ext cx="29260" cy="292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15503" y="3372307"/>
            <a:ext cx="99486" cy="175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68686" y="3413272"/>
            <a:ext cx="29260" cy="292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15503" y="3419124"/>
            <a:ext cx="99486" cy="175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68686" y="3460089"/>
            <a:ext cx="29260" cy="292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15503" y="3465941"/>
            <a:ext cx="99486" cy="175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3182112"/>
            <a:ext cx="1554480" cy="49377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BUSINESS REQUIREMENTS &amp;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SCALE-UP PLAN</a:t>
            </a:r>
          </a:p>
        </p:txBody>
      </p:sp>
      <p:sp>
        <p:nvSpPr>
          <p:cNvPr id="64" name="Oval 63"/>
          <p:cNvSpPr/>
          <p:nvPr/>
        </p:nvSpPr>
        <p:spPr>
          <a:xfrm>
            <a:off x="2377439" y="3378708"/>
            <a:ext cx="155448" cy="155448"/>
          </a:xfrm>
          <a:prstGeom prst="ellipse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2532887" y="3456432"/>
            <a:ext cx="283464" cy="0"/>
          </a:xfrm>
          <a:prstGeom prst="line">
            <a:avLst/>
          </a:prstGeom>
          <a:ln w="31750">
            <a:solidFill>
              <a:srgbClr val="D04A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2816351" y="3200400"/>
            <a:ext cx="2606040" cy="512064"/>
          </a:xfrm>
          <a:prstGeom prst="roundRect">
            <a:avLst>
              <a:gd name="adj" fmla="val 10000"/>
            </a:avLst>
          </a:prstGeom>
          <a:solidFill>
            <a:srgbClr val="FBE8DC"/>
          </a:solidFill>
          <a:ln w="14604">
            <a:solidFill>
              <a:srgbClr val="D04A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71215" y="3218688"/>
            <a:ext cx="2496312" cy="475488"/>
          </a:xfrm>
          <a:prstGeom prst="rect">
            <a:avLst/>
          </a:prstGeom>
          <a:noFill/>
        </p:spPr>
        <p:txBody>
          <a:bodyPr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Temporarily pause detailed BRs for other planning capabilities (focus on labeling)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422392" y="3456432"/>
            <a:ext cx="667511" cy="0"/>
          </a:xfrm>
          <a:prstGeom prst="line">
            <a:avLst/>
          </a:prstGeom>
          <a:ln w="31750">
            <a:solidFill>
              <a:srgbClr val="D04A0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6089903" y="3456432"/>
            <a:ext cx="2331721" cy="0"/>
          </a:xfrm>
          <a:prstGeom prst="line">
            <a:avLst/>
          </a:prstGeom>
          <a:ln w="31750">
            <a:solidFill>
              <a:srgbClr val="D04A0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494776" y="3200400"/>
            <a:ext cx="3404615" cy="512064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Complete remaining BRs and prioritize future releases</a:t>
            </a:r>
          </a:p>
        </p:txBody>
      </p:sp>
      <p:sp>
        <p:nvSpPr>
          <p:cNvPr id="71" name="Hexagon 70"/>
          <p:cNvSpPr/>
          <p:nvPr/>
        </p:nvSpPr>
        <p:spPr>
          <a:xfrm>
            <a:off x="292608" y="4005072"/>
            <a:ext cx="292608" cy="269199"/>
          </a:xfrm>
          <a:prstGeom prst="hexagon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Hexagon 71"/>
          <p:cNvSpPr/>
          <p:nvPr/>
        </p:nvSpPr>
        <p:spPr>
          <a:xfrm>
            <a:off x="356981" y="4063008"/>
            <a:ext cx="163860" cy="153326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97946" y="4094610"/>
            <a:ext cx="81930" cy="81930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3968496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MVP DEFINITION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&amp; DECISION</a:t>
            </a:r>
          </a:p>
        </p:txBody>
      </p:sp>
      <p:sp>
        <p:nvSpPr>
          <p:cNvPr id="75" name="Oval 74"/>
          <p:cNvSpPr/>
          <p:nvPr/>
        </p:nvSpPr>
        <p:spPr>
          <a:xfrm>
            <a:off x="2395727" y="4133088"/>
            <a:ext cx="109728" cy="109728"/>
          </a:xfrm>
          <a:prstGeom prst="ellipse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2505456" y="4187952"/>
            <a:ext cx="310895" cy="0"/>
          </a:xfrm>
          <a:prstGeom prst="line">
            <a:avLst/>
          </a:prstGeom>
          <a:ln w="2349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2816351" y="3950207"/>
            <a:ext cx="2606040" cy="475488"/>
          </a:xfrm>
          <a:prstGeom prst="roundRect">
            <a:avLst>
              <a:gd name="adj" fmla="val 10000"/>
            </a:avLst>
          </a:prstGeom>
          <a:solidFill>
            <a:srgbClr val="F3F3F3"/>
          </a:solidFill>
          <a:ln w="14604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871215" y="3968496"/>
            <a:ext cx="2496312" cy="438912"/>
          </a:xfrm>
          <a:prstGeom prst="rect">
            <a:avLst/>
          </a:prstGeom>
          <a:noFill/>
        </p:spPr>
        <p:txBody>
          <a:bodyPr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Define MVP scope and decision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422392" y="4187952"/>
            <a:ext cx="201167" cy="0"/>
          </a:xfrm>
          <a:prstGeom prst="line">
            <a:avLst/>
          </a:prstGeom>
          <a:ln w="2349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5586983" y="4005072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5-Point Star 80"/>
          <p:cNvSpPr/>
          <p:nvPr/>
        </p:nvSpPr>
        <p:spPr>
          <a:xfrm>
            <a:off x="5649528" y="4067616"/>
            <a:ext cx="222382" cy="222382"/>
          </a:xfrm>
          <a:prstGeom prst="star5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385816" y="4352544"/>
            <a:ext cx="749808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04A02"/>
                </a:solidFill>
                <a:latin typeface="Calibri"/>
                <a:ea typeface="Calibri"/>
                <a:cs typeface="Calibri"/>
              </a:rPr>
              <a:t>(~4 WEEKS*)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5760720" y="4352544"/>
            <a:ext cx="0" cy="420624"/>
          </a:xfrm>
          <a:prstGeom prst="line">
            <a:avLst/>
          </a:prstGeom>
          <a:ln w="17145">
            <a:solidFill>
              <a:srgbClr val="B0B0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Cube 83"/>
          <p:cNvSpPr/>
          <p:nvPr/>
        </p:nvSpPr>
        <p:spPr>
          <a:xfrm>
            <a:off x="292608" y="4736592"/>
            <a:ext cx="310896" cy="310896"/>
          </a:xfrm>
          <a:prstGeom prst="cube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0080" y="4754880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C5C5C"/>
                </a:solidFill>
                <a:latin typeface="Calibri"/>
                <a:ea typeface="Calibri"/>
                <a:cs typeface="Calibri"/>
              </a:rPr>
              <a:t>MVP BUILD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660136" y="4846320"/>
            <a:ext cx="4782312" cy="329184"/>
          </a:xfrm>
          <a:prstGeom prst="roundRect">
            <a:avLst>
              <a:gd name="adj" fmla="val 35000"/>
            </a:avLst>
          </a:prstGeom>
          <a:solidFill>
            <a:srgbClr val="F3C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660136" y="4846320"/>
            <a:ext cx="4782312" cy="329184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MVP Build  (duration longer than BRs)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63055" y="4590288"/>
            <a:ext cx="4937760" cy="219456"/>
          </a:xfrm>
          <a:prstGeom prst="rect">
            <a:avLst/>
          </a:prstGeom>
          <a:noFill/>
        </p:spPr>
        <p:txBody>
          <a:bodyPr wrap="square" lIns="18288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04A02"/>
                </a:solidFill>
                <a:latin typeface="Calibri"/>
                <a:ea typeface="Calibri"/>
                <a:cs typeface="Calibri"/>
              </a:rPr>
              <a:t>~6 WEEKS*   Starts as soon as MVP definition is complete and runs in parallel with MVP build.</a:t>
            </a:r>
          </a:p>
        </p:txBody>
      </p:sp>
      <p:sp>
        <p:nvSpPr>
          <p:cNvPr id="89" name="Oval 88"/>
          <p:cNvSpPr/>
          <p:nvPr/>
        </p:nvSpPr>
        <p:spPr>
          <a:xfrm>
            <a:off x="10533888" y="4828032"/>
            <a:ext cx="329184" cy="329184"/>
          </a:xfrm>
          <a:prstGeom prst="ellipse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533888" y="483717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899648" y="4754880"/>
            <a:ext cx="999743" cy="438912"/>
          </a:xfrm>
          <a:prstGeom prst="rect">
            <a:avLst/>
          </a:prstGeom>
          <a:noFill/>
        </p:spPr>
        <p:txBody>
          <a:bodyPr wrap="square" lIns="18288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04A02"/>
                </a:solidFill>
                <a:latin typeface="Calibri"/>
                <a:ea typeface="Calibri"/>
                <a:cs typeface="Calibri"/>
              </a:rPr>
              <a:t>MVP BUILD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04A02"/>
                </a:solidFill>
                <a:latin typeface="Calibri"/>
                <a:ea typeface="Calibri"/>
                <a:cs typeface="Calibri"/>
              </a:rPr>
              <a:t>DELIVERED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92608" y="5504688"/>
            <a:ext cx="11606783" cy="713232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Hexagon 92"/>
          <p:cNvSpPr/>
          <p:nvPr/>
        </p:nvSpPr>
        <p:spPr>
          <a:xfrm>
            <a:off x="457200" y="5687568"/>
            <a:ext cx="365760" cy="336499"/>
          </a:xfrm>
          <a:prstGeom prst="hexagon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Hexagon 93"/>
          <p:cNvSpPr/>
          <p:nvPr/>
        </p:nvSpPr>
        <p:spPr>
          <a:xfrm>
            <a:off x="537667" y="5759988"/>
            <a:ext cx="204825" cy="191658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88873" y="5799490"/>
            <a:ext cx="102412" cy="102412"/>
          </a:xfrm>
          <a:prstGeom prst="ellipse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32688" y="5596127"/>
            <a:ext cx="10783823" cy="530352"/>
          </a:xfrm>
          <a:prstGeom prst="rect">
            <a:avLst/>
          </a:prstGeom>
          <a:noFill/>
        </p:spPr>
        <p:txBody>
          <a:bodyPr wrap="square" lIns="54864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Outcome: </a:t>
            </a:r>
            <a:r>
              <a:rPr sz="13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Deliver early value with a focused MVP while building the foundation for continued capability and roadmap development.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92608" y="635508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PwC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108960" y="6355080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* Durations are estimates and will be refined.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442191" y="635508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We Are Proposing</dc:title>
  <dc:subject>MVP definition and build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